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A336C-9618-440C-8BE8-0B1CE723FDBC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C801-F27C-43C3-B7DE-7D0013731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0860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A336C-9618-440C-8BE8-0B1CE723FDBC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C801-F27C-43C3-B7DE-7D0013731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89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A336C-9618-440C-8BE8-0B1CE723FDBC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C801-F27C-43C3-B7DE-7D0013731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1396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A336C-9618-440C-8BE8-0B1CE723FDBC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C801-F27C-43C3-B7DE-7D0013731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751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A336C-9618-440C-8BE8-0B1CE723FDBC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C801-F27C-43C3-B7DE-7D0013731B48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669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A336C-9618-440C-8BE8-0B1CE723FDBC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C801-F27C-43C3-B7DE-7D0013731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105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A336C-9618-440C-8BE8-0B1CE723FDBC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C801-F27C-43C3-B7DE-7D0013731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615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A336C-9618-440C-8BE8-0B1CE723FDBC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C801-F27C-43C3-B7DE-7D0013731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002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893A336C-9618-440C-8BE8-0B1CE723FDBC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C801-F27C-43C3-B7DE-7D0013731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955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A336C-9618-440C-8BE8-0B1CE723FDBC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C801-F27C-43C3-B7DE-7D0013731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394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A336C-9618-440C-8BE8-0B1CE723FDBC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C801-F27C-43C3-B7DE-7D0013731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83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893A336C-9618-440C-8BE8-0B1CE723FDBC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0BC801-F27C-43C3-B7DE-7D0013731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7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B7E69-D521-A27B-2677-DB8F6D82C6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 Narrow" panose="020B0606020202030204" pitchFamily="34" charset="0"/>
              </a:rPr>
              <a:t>Smart Phone Usage &amp; Lifestyle Analytics Dashboard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F5D205-4A4F-9142-3C4E-5120C70402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By: Ria Sangwan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1620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AB451-D177-B61E-30CB-4C2EDEC72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Narrow" panose="020B0606020202030204" pitchFamily="34" charset="0"/>
              </a:rPr>
              <a:t>Executive Overview</a:t>
            </a:r>
            <a:endParaRPr lang="en-IN" dirty="0">
              <a:latin typeface="Arial Narrow" panose="020B060602020203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386D8E-4EC4-F588-9E4C-43550FACBA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1136" y="2235302"/>
            <a:ext cx="7729728" cy="3801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453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3C0B7-FDB8-E721-E0A9-0A19A2335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Explanation Of Executive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E1BDA-D9D8-AD37-BABD-181765F7D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339969"/>
          </a:xfrm>
        </p:spPr>
        <p:txBody>
          <a:bodyPr>
            <a:noAutofit/>
          </a:bodyPr>
          <a:lstStyle/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The Dashboard summarizes </a:t>
            </a:r>
            <a:r>
              <a:rPr lang="en-US" b="1" dirty="0">
                <a:latin typeface="Aparajita" panose="02020603050405020304" pitchFamily="18" charset="0"/>
                <a:cs typeface="Aparajita" panose="02020603050405020304" pitchFamily="18" charset="0"/>
              </a:rPr>
              <a:t>50k users digital behavior</a:t>
            </a:r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, showing averages for phone usage, productivity, stress, sleep and digital balance.</a:t>
            </a:r>
          </a:p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Users spend about </a:t>
            </a:r>
            <a:r>
              <a:rPr lang="en-US" b="1" dirty="0">
                <a:latin typeface="Aparajita" panose="02020603050405020304" pitchFamily="18" charset="0"/>
                <a:cs typeface="Aparajita" panose="02020603050405020304" pitchFamily="18" charset="0"/>
              </a:rPr>
              <a:t>5.5 hours daily on phones</a:t>
            </a:r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, while maintaining a relatively high </a:t>
            </a:r>
            <a:r>
              <a:rPr lang="en-US" b="1" dirty="0">
                <a:latin typeface="Aparajita" panose="02020603050405020304" pitchFamily="18" charset="0"/>
                <a:cs typeface="Aparajita" panose="02020603050405020304" pitchFamily="18" charset="0"/>
              </a:rPr>
              <a:t>average productivity score of 7.55.</a:t>
            </a:r>
          </a:p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Average sleep duration is- </a:t>
            </a:r>
            <a:r>
              <a:rPr lang="en-US" b="1" dirty="0">
                <a:latin typeface="Aparajita" panose="02020603050405020304" pitchFamily="18" charset="0"/>
                <a:cs typeface="Aparajita" panose="02020603050405020304" pitchFamily="18" charset="0"/>
              </a:rPr>
              <a:t>7 hours</a:t>
            </a:r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, suggesting moderate lifestyle balance despite digital engagement.</a:t>
            </a:r>
          </a:p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The bubble chart shows that </a:t>
            </a:r>
            <a:r>
              <a:rPr lang="en-US" b="1" dirty="0">
                <a:latin typeface="Aparajita" panose="02020603050405020304" pitchFamily="18" charset="0"/>
                <a:cs typeface="Aparajita" panose="02020603050405020304" pitchFamily="18" charset="0"/>
              </a:rPr>
              <a:t>higher phone usage generally aligns with higher total productivity across occupations, </a:t>
            </a:r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especially professionals and students.</a:t>
            </a:r>
          </a:p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The stress distribution chart indicates that </a:t>
            </a:r>
            <a:r>
              <a:rPr lang="en-US" b="1" dirty="0">
                <a:latin typeface="Aparajita" panose="02020603050405020304" pitchFamily="18" charset="0"/>
                <a:cs typeface="Aparajita" panose="02020603050405020304" pitchFamily="18" charset="0"/>
              </a:rPr>
              <a:t>most users experience moderate stress levels(around 3-5)</a:t>
            </a:r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, with fewer users at extreme stress levels.</a:t>
            </a:r>
            <a:endParaRPr lang="en-IN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216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9FFAE-F063-8681-61E6-BA374FEDB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Narrow" panose="020B0606020202030204" pitchFamily="34" charset="0"/>
              </a:rPr>
              <a:t>Behavioral Insights</a:t>
            </a:r>
            <a:endParaRPr lang="en-IN" dirty="0">
              <a:latin typeface="Arial Narrow" panose="020B060602020203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6A2AAA-C9CB-7068-1C87-5AA9C9E472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1137" y="2251587"/>
            <a:ext cx="7729728" cy="390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164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03B13-1845-0887-ECA3-4A6B2E43A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Narrow" panose="020B0606020202030204" pitchFamily="34" charset="0"/>
              </a:rPr>
              <a:t>Explanation of Behavioral Overview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6E3A6-D099-B384-F49A-A9E6492B5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latin typeface="Aparajita" panose="02020603050405020304" pitchFamily="18" charset="0"/>
                <a:cs typeface="Aparajita" panose="02020603050405020304" pitchFamily="18" charset="0"/>
              </a:rPr>
              <a:t>Ios and Android users show similar stress levels</a:t>
            </a:r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, but iOS users have slightly higher average productivity score.</a:t>
            </a:r>
          </a:p>
          <a:p>
            <a:r>
              <a:rPr lang="en-US" b="1" dirty="0">
                <a:latin typeface="Aparajita" panose="02020603050405020304" pitchFamily="18" charset="0"/>
                <a:cs typeface="Aparajita" panose="02020603050405020304" pitchFamily="18" charset="0"/>
              </a:rPr>
              <a:t>Productivity remains stable across moderate social media usage</a:t>
            </a:r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, with noticeable fluctuations at very high usage hours.</a:t>
            </a:r>
          </a:p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The sleep vs. stress chart suggests a</a:t>
            </a:r>
            <a:r>
              <a:rPr lang="en-US" b="1" dirty="0">
                <a:latin typeface="Aparajita" panose="02020603050405020304" pitchFamily="18" charset="0"/>
                <a:cs typeface="Aparajita" panose="02020603050405020304" pitchFamily="18" charset="0"/>
              </a:rPr>
              <a:t> relationship where all overall sleep duration impacts accumulated stress levels </a:t>
            </a:r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across users</a:t>
            </a:r>
            <a:r>
              <a:rPr lang="en-US" u="sng" dirty="0">
                <a:latin typeface="Aparajita" panose="02020603050405020304" pitchFamily="18" charset="0"/>
                <a:cs typeface="Aparajita" panose="02020603050405020304" pitchFamily="18" charset="0"/>
              </a:rPr>
              <a:t>.</a:t>
            </a:r>
          </a:p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Across occupations, </a:t>
            </a:r>
            <a:r>
              <a:rPr lang="en-US" b="1" dirty="0">
                <a:latin typeface="Aparajita" panose="02020603050405020304" pitchFamily="18" charset="0"/>
                <a:cs typeface="Aparajita" panose="02020603050405020304" pitchFamily="18" charset="0"/>
              </a:rPr>
              <a:t>productivity scores are consistently high</a:t>
            </a:r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 while stress remain moderate for all job groups.</a:t>
            </a:r>
          </a:p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Overall, the dashboard indicates a </a:t>
            </a:r>
            <a:r>
              <a:rPr lang="en-US" b="1" dirty="0">
                <a:latin typeface="Aparajita" panose="02020603050405020304" pitchFamily="18" charset="0"/>
                <a:cs typeface="Aparajita" panose="02020603050405020304" pitchFamily="18" charset="0"/>
              </a:rPr>
              <a:t>balanced trend between device usage, social media time, stress and productivity outcomes.</a:t>
            </a:r>
            <a:endParaRPr lang="en-IN" b="1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429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AEC22-62FE-630E-A195-5FE16AA85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Narrow" panose="020B0606020202030204" pitchFamily="34" charset="0"/>
              </a:rPr>
              <a:t>Stress &amp; Productivity Drivers</a:t>
            </a:r>
            <a:endParaRPr lang="en-IN" dirty="0">
              <a:latin typeface="Arial Narrow" panose="020B0606020202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7E50BF-E80A-94CB-938E-2943885E4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6" y="2257208"/>
            <a:ext cx="7729728" cy="407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468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219A7-E974-D85B-F353-805989FF4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Narrow" panose="020B0606020202030204" pitchFamily="34" charset="0"/>
              </a:rPr>
              <a:t>Explanation of Stress &amp; Productivity Drivers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0111C-8B88-FD65-4688-E449BF1C4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Average daily phone usage remains </a:t>
            </a:r>
            <a:r>
              <a:rPr lang="en-US" b="1" dirty="0">
                <a:latin typeface="Aparajita" panose="02020603050405020304" pitchFamily="18" charset="0"/>
                <a:cs typeface="Aparajita" panose="02020603050405020304" pitchFamily="18" charset="0"/>
              </a:rPr>
              <a:t>fairly consistent across all age groups</a:t>
            </a:r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, staying close to 5-6 hours per day.</a:t>
            </a:r>
          </a:p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The device breakdown shows </a:t>
            </a:r>
            <a:r>
              <a:rPr lang="en-US" b="1" dirty="0">
                <a:latin typeface="Aparajita" panose="02020603050405020304" pitchFamily="18" charset="0"/>
                <a:cs typeface="Aparajita" panose="02020603050405020304" pitchFamily="18" charset="0"/>
              </a:rPr>
              <a:t>Android users contributing significantly higher total stress levels compared to iOS users.</a:t>
            </a:r>
          </a:p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Increased caffeine intake is associated with </a:t>
            </a:r>
            <a:r>
              <a:rPr lang="en-US" b="1" dirty="0">
                <a:latin typeface="Aparajita" panose="02020603050405020304" pitchFamily="18" charset="0"/>
                <a:cs typeface="Aparajita" panose="02020603050405020304" pitchFamily="18" charset="0"/>
              </a:rPr>
              <a:t>higher accumulated stress levels</a:t>
            </a:r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, indicating a possible lifestyle impact.</a:t>
            </a:r>
          </a:p>
          <a:p>
            <a:r>
              <a:rPr lang="en-US" b="1" dirty="0">
                <a:latin typeface="Aparajita" panose="02020603050405020304" pitchFamily="18" charset="0"/>
                <a:cs typeface="Aparajita" panose="02020603050405020304" pitchFamily="18" charset="0"/>
              </a:rPr>
              <a:t>Normal users demonstrate higher average productivity than heavy phone users</a:t>
            </a:r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, suggesting excessive usage may reduce efficiency.</a:t>
            </a:r>
          </a:p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Overall, the dashboard highlights how </a:t>
            </a:r>
            <a:r>
              <a:rPr lang="en-US" b="1" dirty="0">
                <a:latin typeface="Aparajita" panose="02020603050405020304" pitchFamily="18" charset="0"/>
                <a:cs typeface="Aparajita" panose="02020603050405020304" pitchFamily="18" charset="0"/>
              </a:rPr>
              <a:t>age, device type, caffeine consumption, and phone usage intensity influence stress and productivity trends. </a:t>
            </a:r>
            <a:endParaRPr lang="en-IN" b="1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1718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047C-661D-4584-C17F-F666C4311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Narrow" panose="020B0606020202030204" pitchFamily="34" charset="0"/>
              </a:rPr>
              <a:t>Risk Segmentation</a:t>
            </a:r>
            <a:endParaRPr lang="en-IN" dirty="0">
              <a:latin typeface="Arial Narrow" panose="020B0606020202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F71067-4565-8FA1-9BB0-D8AE38172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6" y="2248765"/>
            <a:ext cx="7729727" cy="4230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440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1F13E-F3B1-B569-CE1B-AA4219B8C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Narrow" panose="020B0606020202030204" pitchFamily="34" charset="0"/>
              </a:rPr>
              <a:t>Explanation of Risk Segmentation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2F6F8-6A96-62C7-E4AA-A7B1FDD61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Average productivity remains </a:t>
            </a:r>
            <a:r>
              <a:rPr lang="en-US" b="1" dirty="0">
                <a:latin typeface="Aparajita" panose="02020603050405020304" pitchFamily="18" charset="0"/>
                <a:cs typeface="Aparajita" panose="02020603050405020304" pitchFamily="18" charset="0"/>
              </a:rPr>
              <a:t>stable around 7–8 scores across most weekend screen time hours</a:t>
            </a:r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, with slight variation at extreme usage levels.</a:t>
            </a:r>
          </a:p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Very high weekend screen time (above ~13–15 hours) shows </a:t>
            </a:r>
            <a:r>
              <a:rPr lang="en-US" b="1" dirty="0">
                <a:latin typeface="Aparajita" panose="02020603050405020304" pitchFamily="18" charset="0"/>
                <a:cs typeface="Aparajita" panose="02020603050405020304" pitchFamily="18" charset="0"/>
              </a:rPr>
              <a:t>greater fluctuations and occasional drops in productivity</a:t>
            </a:r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.</a:t>
            </a:r>
          </a:p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Key influencer analysis reveals that </a:t>
            </a:r>
            <a:r>
              <a:rPr lang="en-US" b="1" dirty="0">
                <a:latin typeface="Aparajita" panose="02020603050405020304" pitchFamily="18" charset="0"/>
                <a:cs typeface="Aparajita" panose="02020603050405020304" pitchFamily="18" charset="0"/>
              </a:rPr>
              <a:t>increased daily phone hours directly contribute to higher stress levels</a:t>
            </a:r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.</a:t>
            </a:r>
          </a:p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Lower sleep duration (≈5.7 hours or less) is identified as a </a:t>
            </a:r>
            <a:r>
              <a:rPr lang="en-US" b="1" dirty="0">
                <a:latin typeface="Aparajita" panose="02020603050405020304" pitchFamily="18" charset="0"/>
                <a:cs typeface="Aparajita" panose="02020603050405020304" pitchFamily="18" charset="0"/>
              </a:rPr>
              <a:t>major factor driving stress level increases.</a:t>
            </a:r>
          </a:p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Overall, the dashboard highlights that </a:t>
            </a:r>
            <a:r>
              <a:rPr lang="en-US" b="1" dirty="0">
                <a:latin typeface="Aparajita" panose="02020603050405020304" pitchFamily="18" charset="0"/>
                <a:cs typeface="Aparajita" panose="02020603050405020304" pitchFamily="18" charset="0"/>
              </a:rPr>
              <a:t>balanced screen time and adequate sleep help maintain productivity while reducing stress</a:t>
            </a:r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.</a:t>
            </a:r>
            <a:endParaRPr lang="en-IN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737762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50</TotalTime>
  <Words>434</Words>
  <Application>Microsoft Office PowerPoint</Application>
  <PresentationFormat>Widescreen</PresentationFormat>
  <Paragraphs>30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Aparajita</vt:lpstr>
      <vt:lpstr>Arial</vt:lpstr>
      <vt:lpstr>Arial Narrow</vt:lpstr>
      <vt:lpstr>Gill Sans MT</vt:lpstr>
      <vt:lpstr>Parcel</vt:lpstr>
      <vt:lpstr>Smart Phone Usage &amp; Lifestyle Analytics Dashboard</vt:lpstr>
      <vt:lpstr>Executive Overview</vt:lpstr>
      <vt:lpstr>Explanation Of Executive Overview</vt:lpstr>
      <vt:lpstr>Behavioral Insights</vt:lpstr>
      <vt:lpstr>Explanation of Behavioral Overview</vt:lpstr>
      <vt:lpstr>Stress &amp; Productivity Drivers</vt:lpstr>
      <vt:lpstr>Explanation of Stress &amp; Productivity Drivers</vt:lpstr>
      <vt:lpstr>Risk Segmentation</vt:lpstr>
      <vt:lpstr>Explanation of Risk Segmentation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Rekha sangwan</dc:creator>
  <cp:lastModifiedBy>Rekha sangwan</cp:lastModifiedBy>
  <cp:revision>1</cp:revision>
  <dcterms:created xsi:type="dcterms:W3CDTF">2026-03-01T10:04:47Z</dcterms:created>
  <dcterms:modified xsi:type="dcterms:W3CDTF">2026-03-01T10:54:48Z</dcterms:modified>
</cp:coreProperties>
</file>